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Inclusive Sans" charset="1" panose="00000000000000000000"/>
      <p:regular r:id="rId19"/>
    </p:embeddedFont>
    <p:embeddedFont>
      <p:font typeface="Lovelace Text" charset="1" panose="00000500000000000000"/>
      <p:regular r:id="rId20"/>
    </p:embeddedFont>
    <p:embeddedFont>
      <p:font typeface="Lovelace Text Bold" charset="1" panose="00000700000000000000"/>
      <p:regular r:id="rId21"/>
    </p:embeddedFont>
    <p:embeddedFont>
      <p:font typeface="Inclusive Sans Bold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6038850"/>
            <a:chOff x="0" y="0"/>
            <a:chExt cx="1008163" cy="6770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8163" cy="677092"/>
            </a:xfrm>
            <a:custGeom>
              <a:avLst/>
              <a:gdLst/>
              <a:ahLst/>
              <a:cxnLst/>
              <a:rect r="r" b="b" t="t" l="l"/>
              <a:pathLst>
                <a:path h="677092" w="1008163">
                  <a:moveTo>
                    <a:pt x="0" y="0"/>
                  </a:moveTo>
                  <a:lnTo>
                    <a:pt x="1008163" y="0"/>
                  </a:lnTo>
                  <a:lnTo>
                    <a:pt x="1008163" y="677092"/>
                  </a:lnTo>
                  <a:lnTo>
                    <a:pt x="0" y="677092"/>
                  </a:lnTo>
                  <a:close/>
                </a:path>
              </a:pathLst>
            </a:custGeom>
            <a:blipFill>
              <a:blip r:embed="rId2"/>
              <a:stretch>
                <a:fillRect l="-307" t="0" r="-30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038850"/>
            <a:ext cx="7191375" cy="3581400"/>
            <a:chOff x="0" y="0"/>
            <a:chExt cx="1185479" cy="5903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85479" cy="590384"/>
            </a:xfrm>
            <a:custGeom>
              <a:avLst/>
              <a:gdLst/>
              <a:ahLst/>
              <a:cxnLst/>
              <a:rect r="r" b="b" t="t" l="l"/>
              <a:pathLst>
                <a:path h="590384" w="1185479">
                  <a:moveTo>
                    <a:pt x="0" y="0"/>
                  </a:moveTo>
                  <a:lnTo>
                    <a:pt x="1185479" y="0"/>
                  </a:lnTo>
                  <a:lnTo>
                    <a:pt x="1185479" y="590384"/>
                  </a:lnTo>
                  <a:lnTo>
                    <a:pt x="0" y="590384"/>
                  </a:lnTo>
                  <a:close/>
                </a:path>
              </a:pathLst>
            </a:custGeom>
            <a:blipFill>
              <a:blip r:embed="rId3"/>
              <a:stretch>
                <a:fillRect l="-177" t="0" r="-177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296400" y="7381889"/>
            <a:ext cx="7962900" cy="895323"/>
            <a:chOff x="0" y="0"/>
            <a:chExt cx="10617200" cy="119376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106172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 spc="-60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Asosiy Tushunchalar va Tahdidlar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699946"/>
              <a:ext cx="106172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 strike="noStrike" u="none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Presented by: [Your Name]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66750" y="828675"/>
            <a:ext cx="8324850" cy="2205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75"/>
              </a:lnSpc>
            </a:pPr>
            <a:r>
              <a:rPr lang="en-US" sz="8475">
                <a:solidFill>
                  <a:srgbClr val="F2C14E"/>
                </a:solidFill>
                <a:latin typeface="Lovelace Text"/>
                <a:ea typeface="Lovelace Text"/>
                <a:cs typeface="Lovelace Text"/>
                <a:sym typeface="Lovelace Text"/>
              </a:rPr>
              <a:t>Kiberxavfsizlik Asoslari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C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7451633"/>
            <a:ext cx="8324850" cy="2168617"/>
            <a:chOff x="0" y="0"/>
            <a:chExt cx="11099800" cy="28914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903570"/>
              <a:ext cx="11099800" cy="19879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 strike="noStrike" u="none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Kiberxavfsizlik tarixi dastlabki viruslardan boshlab, internetning rivojlanishi bilan oshgan xavflar va bugungi kunda mavjud bo'lgan zamonaviy tahdidlar haqida muhim ma'lumotlarni o'z ichiga oladi.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10998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 spc="-60" strike="noStrike" u="none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Evolyutsiya va Zamonaviy Holat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819150"/>
            <a:ext cx="1407795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>
                <a:solidFill>
                  <a:srgbClr val="F2C14E"/>
                </a:solidFill>
                <a:latin typeface="Lovelace Text"/>
                <a:ea typeface="Lovelace Text"/>
                <a:cs typeface="Lovelace Text"/>
                <a:sym typeface="Lovelace Text"/>
              </a:rPr>
              <a:t>Kiberxavfsizlik Tarixi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1562141"/>
            <a:ext cx="6886575" cy="1790646"/>
            <a:chOff x="0" y="0"/>
            <a:chExt cx="9182100" cy="238752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852310"/>
              <a:ext cx="9182100" cy="15352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Malware includes malicious software designed to disrupt, damage, or gain unauthorized access to computer systems.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 strike="noStrike" u="none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Malware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655817" y="1561821"/>
            <a:ext cx="77405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600">
                <a:solidFill>
                  <a:srgbClr val="FFFFFF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01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734675" y="4248150"/>
            <a:ext cx="6886575" cy="1791996"/>
            <a:chOff x="0" y="0"/>
            <a:chExt cx="9182100" cy="238932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854110"/>
              <a:ext cx="9182100" cy="15352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Phishing attacks use deceptive emails and websites to trick users into revealing sensitive information like passwords.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Phishing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655817" y="4259238"/>
            <a:ext cx="77405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600">
                <a:solidFill>
                  <a:srgbClr val="FFFFFF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02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734675" y="6934200"/>
            <a:ext cx="6886575" cy="1791970"/>
            <a:chOff x="0" y="0"/>
            <a:chExt cx="9182100" cy="2389293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854075"/>
              <a:ext cx="9182100" cy="15352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DDoS attacks overwhelm a network with traffic, causing service disruptions and making resources unavailable to users.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DDoS Hujumlari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655817" y="6945288"/>
            <a:ext cx="77405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600">
                <a:solidFill>
                  <a:srgbClr val="FFFFFF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03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0" y="4248150"/>
            <a:ext cx="8991600" cy="6038850"/>
            <a:chOff x="0" y="0"/>
            <a:chExt cx="1335860" cy="89717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35860" cy="897177"/>
            </a:xfrm>
            <a:custGeom>
              <a:avLst/>
              <a:gdLst/>
              <a:ahLst/>
              <a:cxnLst/>
              <a:rect r="r" b="b" t="t" l="l"/>
              <a:pathLst>
                <a:path h="897177" w="1335860">
                  <a:moveTo>
                    <a:pt x="0" y="0"/>
                  </a:moveTo>
                  <a:lnTo>
                    <a:pt x="1335860" y="0"/>
                  </a:lnTo>
                  <a:lnTo>
                    <a:pt x="1335860" y="897177"/>
                  </a:lnTo>
                  <a:lnTo>
                    <a:pt x="0" y="897177"/>
                  </a:lnTo>
                  <a:close/>
                </a:path>
              </a:pathLst>
            </a:custGeom>
            <a:blipFill>
              <a:blip r:embed="rId2"/>
              <a:stretch>
                <a:fillRect l="-307" t="0" r="-307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66750" y="819150"/>
            <a:ext cx="8324850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>
                <a:solidFill>
                  <a:srgbClr val="F2C14E"/>
                </a:solidFill>
                <a:latin typeface="Lovelace Text"/>
                <a:ea typeface="Lovelace Text"/>
                <a:cs typeface="Lovelace Text"/>
                <a:sym typeface="Lovelace Text"/>
              </a:rPr>
              <a:t>Asosiy Tahdid Turlari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1562141"/>
            <a:ext cx="6886575" cy="1400121"/>
            <a:chOff x="0" y="0"/>
            <a:chExt cx="9182100" cy="186682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852310"/>
              <a:ext cx="91821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Viruslar o'z-o'zidan ko'payadi va boshqa dasturlarni zararli usulda o'zgartirishi mumkin.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 strike="noStrike" u="none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Viruslar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655817" y="1561821"/>
            <a:ext cx="77405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600">
                <a:solidFill>
                  <a:srgbClr val="FFFFFF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01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734675" y="4248150"/>
            <a:ext cx="6886575" cy="1401471"/>
            <a:chOff x="0" y="0"/>
            <a:chExt cx="9182100" cy="186862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854110"/>
              <a:ext cx="91821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Troyanlar foydalanuvchilarni aldaydi, ularga zarar yetkazmasdan avvalo foydali ko'rinishda bo'ladi.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Troyanlar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655817" y="4259238"/>
            <a:ext cx="77405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600">
                <a:solidFill>
                  <a:srgbClr val="FFFFFF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02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734675" y="6934200"/>
            <a:ext cx="6886575" cy="1401445"/>
            <a:chOff x="0" y="0"/>
            <a:chExt cx="9182100" cy="1868593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854075"/>
              <a:ext cx="91821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Wormlar tarmoqlar orqali tarqaladi va tizimlar o'rtasida mustaqil tarzda ko'payadi.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Wormlar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655817" y="6945288"/>
            <a:ext cx="77405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600">
                <a:solidFill>
                  <a:srgbClr val="FFFFFF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03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0" y="4248150"/>
            <a:ext cx="8991600" cy="6038850"/>
            <a:chOff x="0" y="0"/>
            <a:chExt cx="1335860" cy="89717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35860" cy="897177"/>
            </a:xfrm>
            <a:custGeom>
              <a:avLst/>
              <a:gdLst/>
              <a:ahLst/>
              <a:cxnLst/>
              <a:rect r="r" b="b" t="t" l="l"/>
              <a:pathLst>
                <a:path h="897177" w="1335860">
                  <a:moveTo>
                    <a:pt x="0" y="0"/>
                  </a:moveTo>
                  <a:lnTo>
                    <a:pt x="1335860" y="0"/>
                  </a:lnTo>
                  <a:lnTo>
                    <a:pt x="1335860" y="897177"/>
                  </a:lnTo>
                  <a:lnTo>
                    <a:pt x="0" y="897177"/>
                  </a:lnTo>
                  <a:close/>
                </a:path>
              </a:pathLst>
            </a:custGeom>
            <a:blipFill>
              <a:blip r:embed="rId2"/>
              <a:stretch>
                <a:fillRect l="-307" t="0" r="-307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66750" y="819150"/>
            <a:ext cx="8324850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>
                <a:solidFill>
                  <a:srgbClr val="F2C14E"/>
                </a:solidFill>
                <a:latin typeface="Lovelace Text"/>
                <a:ea typeface="Lovelace Text"/>
                <a:cs typeface="Lovelace Text"/>
                <a:sym typeface="Lovelace Text"/>
              </a:rPr>
              <a:t>Malware Turlari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0"/>
            <a:ext cx="10429875" cy="10287000"/>
            <a:chOff x="0" y="0"/>
            <a:chExt cx="274696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4696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46963">
                  <a:moveTo>
                    <a:pt x="0" y="0"/>
                  </a:moveTo>
                  <a:lnTo>
                    <a:pt x="2746963" y="0"/>
                  </a:lnTo>
                  <a:lnTo>
                    <a:pt x="274696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A72B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74696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31079" y="666750"/>
            <a:ext cx="9090171" cy="8953500"/>
            <a:chOff x="0" y="0"/>
            <a:chExt cx="1082836" cy="10665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2836" cy="1066556"/>
            </a:xfrm>
            <a:custGeom>
              <a:avLst/>
              <a:gdLst/>
              <a:ahLst/>
              <a:cxnLst/>
              <a:rect r="r" b="b" t="t" l="l"/>
              <a:pathLst>
                <a:path h="1066556" w="1082836">
                  <a:moveTo>
                    <a:pt x="0" y="0"/>
                  </a:moveTo>
                  <a:lnTo>
                    <a:pt x="1082836" y="0"/>
                  </a:lnTo>
                  <a:lnTo>
                    <a:pt x="1082836" y="1066556"/>
                  </a:lnTo>
                  <a:lnTo>
                    <a:pt x="0" y="1066556"/>
                  </a:lnTo>
                  <a:close/>
                </a:path>
              </a:pathLst>
            </a:custGeom>
            <a:blipFill>
              <a:blip r:embed="rId2"/>
              <a:stretch>
                <a:fillRect l="0" t="-65" r="0" b="-65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19150"/>
            <a:ext cx="6886575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>
                <a:solidFill>
                  <a:srgbClr val="F2C14E"/>
                </a:solidFill>
                <a:latin typeface="Lovelace Text"/>
                <a:ea typeface="Lovelace Text"/>
                <a:cs typeface="Lovelace Text"/>
                <a:sym typeface="Lovelace Text"/>
              </a:rPr>
              <a:t>Phishing Hujumlari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6750" y="7276728"/>
            <a:ext cx="5448300" cy="2343522"/>
            <a:chOff x="0" y="0"/>
            <a:chExt cx="7264400" cy="312469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589478"/>
              <a:ext cx="7264400" cy="15352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Phishing hujumlari foydalanuvchilarni aldatish orqali ma'lumotlarni </a:t>
              </a:r>
              <a:r>
                <a:rPr lang="en-US" b="true" sz="2199">
                  <a:solidFill>
                    <a:srgbClr val="FFFFFF"/>
                  </a:solidFill>
                  <a:latin typeface="Inclusive Sans Bold"/>
                  <a:ea typeface="Inclusive Sans Bold"/>
                  <a:cs typeface="Inclusive Sans Bold"/>
                  <a:sym typeface="Inclusive Sans Bold"/>
                </a:rPr>
                <a:t>o'g'irlash</a:t>
              </a: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 maqsadida amalga oshiriladi.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7264400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Aldash Usullari va Tanib Olish haqida ma'lumot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19150"/>
            <a:ext cx="9763125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>
                <a:solidFill>
                  <a:srgbClr val="F2C14E"/>
                </a:solidFill>
                <a:latin typeface="Lovelace Text"/>
                <a:ea typeface="Lovelace Text"/>
                <a:cs typeface="Lovelace Text"/>
                <a:sym typeface="Lovelace Text"/>
              </a:rPr>
              <a:t>Parol Xavfsizligi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666750"/>
            <a:ext cx="6886575" cy="1894131"/>
            <a:chOff x="0" y="0"/>
            <a:chExt cx="9182100" cy="252550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90290"/>
              <a:ext cx="9182100" cy="15352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Kuchli parol qoidalari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Ikki bosqichli autentifikatsiya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Parol menejerlaridan foydalanish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F2C14E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Kuchli parollar va 2FA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4248150"/>
            <a:ext cx="18288000" cy="6038850"/>
            <a:chOff x="0" y="0"/>
            <a:chExt cx="2178497" cy="7193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8497" cy="719358"/>
            </a:xfrm>
            <a:custGeom>
              <a:avLst/>
              <a:gdLst/>
              <a:ahLst/>
              <a:cxnLst/>
              <a:rect r="r" b="b" t="t" l="l"/>
              <a:pathLst>
                <a:path h="719358" w="2178497">
                  <a:moveTo>
                    <a:pt x="0" y="0"/>
                  </a:moveTo>
                  <a:lnTo>
                    <a:pt x="2178497" y="0"/>
                  </a:lnTo>
                  <a:lnTo>
                    <a:pt x="2178497" y="719358"/>
                  </a:lnTo>
                  <a:lnTo>
                    <a:pt x="0" y="719358"/>
                  </a:lnTo>
                  <a:close/>
                </a:path>
              </a:pathLst>
            </a:custGeom>
            <a:blipFill>
              <a:blip r:embed="rId2"/>
              <a:stretch>
                <a:fillRect l="0" t="-5268" r="0" b="-5268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C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19150"/>
            <a:ext cx="14077950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>
                <a:solidFill>
                  <a:srgbClr val="F2C14E"/>
                </a:solidFill>
                <a:latin typeface="Lovelace Text"/>
                <a:ea typeface="Lovelace Text"/>
                <a:cs typeface="Lovelace Text"/>
                <a:sym typeface="Lovelace Text"/>
              </a:rPr>
              <a:t>Tarmoq Xavfsizligi: Firewall va VPN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5143500"/>
            <a:ext cx="6886575" cy="2686230"/>
            <a:chOff x="0" y="0"/>
            <a:chExt cx="9182100" cy="358164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 spc="-60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Firewallning Ahmiyati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593721"/>
              <a:ext cx="9182100" cy="19879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 strike="noStrike" u="none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Firewalllar tarmoqni </a:t>
              </a:r>
              <a:r>
                <a:rPr lang="en-US" b="true" sz="2199" strike="noStrike" u="none">
                  <a:solidFill>
                    <a:srgbClr val="FFFFFF"/>
                  </a:solidFill>
                  <a:latin typeface="Inclusive Sans Bold"/>
                  <a:ea typeface="Inclusive Sans Bold"/>
                  <a:cs typeface="Inclusive Sans Bold"/>
                  <a:sym typeface="Inclusive Sans Bold"/>
                </a:rPr>
                <a:t>tashqi tahdidlardan</a:t>
              </a:r>
              <a:r>
                <a:rPr lang="en-US" sz="2199" strike="noStrike" u="none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 himoya qilish uchun muhim vositalardir, ular kiruvchi va chiquvchi trafikni nazorat qiladi hamda noto'g'ri kirishlarni bloklaydi.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96400" y="5143500"/>
            <a:ext cx="6886575" cy="2686230"/>
            <a:chOff x="0" y="0"/>
            <a:chExt cx="9182100" cy="358164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 spc="-60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VPNning Foydalari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593721"/>
              <a:ext cx="9182100" cy="19879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 strike="noStrike" u="none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VPN (Virtual Private Network) internetda </a:t>
              </a:r>
              <a:r>
                <a:rPr lang="en-US" b="true" sz="2199" strike="noStrike" u="none">
                  <a:solidFill>
                    <a:srgbClr val="FFFFFF"/>
                  </a:solidFill>
                  <a:latin typeface="Inclusive Sans Bold"/>
                  <a:ea typeface="Inclusive Sans Bold"/>
                  <a:cs typeface="Inclusive Sans Bold"/>
                  <a:sym typeface="Inclusive Sans Bold"/>
                </a:rPr>
                <a:t>ma'lumotlarni shifrlash</a:t>
              </a:r>
              <a:r>
                <a:rPr lang="en-US" sz="2199" strike="noStrike" u="none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 va xavfsiz ulanishni ta'minlaydi, bu esa foydalanuvchilarga xavfsiz internet tajribasini taqdim etadi.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38850"/>
            <a:ext cx="5753100" cy="3581400"/>
            <a:chOff x="0" y="0"/>
            <a:chExt cx="948383" cy="5903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8383" cy="590384"/>
            </a:xfrm>
            <a:custGeom>
              <a:avLst/>
              <a:gdLst/>
              <a:ahLst/>
              <a:cxnLst/>
              <a:rect r="r" b="b" t="t" l="l"/>
              <a:pathLst>
                <a:path h="590384" w="948383">
                  <a:moveTo>
                    <a:pt x="0" y="0"/>
                  </a:moveTo>
                  <a:lnTo>
                    <a:pt x="948383" y="0"/>
                  </a:lnTo>
                  <a:lnTo>
                    <a:pt x="948383" y="590384"/>
                  </a:lnTo>
                  <a:lnTo>
                    <a:pt x="0" y="590384"/>
                  </a:lnTo>
                  <a:close/>
                </a:path>
              </a:pathLst>
            </a:custGeom>
            <a:blipFill>
              <a:blip r:embed="rId2"/>
              <a:stretch>
                <a:fillRect l="-508" t="0" r="-50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34675" y="0"/>
            <a:ext cx="7553325" cy="10287000"/>
            <a:chOff x="0" y="0"/>
            <a:chExt cx="846899" cy="11534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6899" cy="1153407"/>
            </a:xfrm>
            <a:custGeom>
              <a:avLst/>
              <a:gdLst/>
              <a:ahLst/>
              <a:cxnLst/>
              <a:rect r="r" b="b" t="t" l="l"/>
              <a:pathLst>
                <a:path h="1153407" w="846899">
                  <a:moveTo>
                    <a:pt x="0" y="0"/>
                  </a:moveTo>
                  <a:lnTo>
                    <a:pt x="846899" y="0"/>
                  </a:lnTo>
                  <a:lnTo>
                    <a:pt x="846899" y="1153407"/>
                  </a:lnTo>
                  <a:lnTo>
                    <a:pt x="0" y="1153407"/>
                  </a:lnTo>
                  <a:close/>
                </a:path>
              </a:pathLst>
            </a:custGeom>
            <a:blipFill>
              <a:blip r:embed="rId3"/>
              <a:stretch>
                <a:fillRect l="0" t="-205" r="0" b="-20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66750" y="666750"/>
            <a:ext cx="9763125" cy="3219450"/>
            <a:chOff x="0" y="0"/>
            <a:chExt cx="13017500" cy="42926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52400"/>
              <a:ext cx="13017500" cy="320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000"/>
                </a:lnSpc>
              </a:pPr>
              <a:r>
                <a:rPr lang="en-US" sz="9000">
                  <a:solidFill>
                    <a:srgbClr val="F2C14E"/>
                  </a:solidFill>
                  <a:latin typeface="Lovelace Text"/>
                  <a:ea typeface="Lovelace Text"/>
                  <a:cs typeface="Lovelace Text"/>
                  <a:sym typeface="Lovelace Text"/>
                </a:rPr>
                <a:t>Ma'lumotlarni Himoya Qilish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673475"/>
              <a:ext cx="130175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Shifrlash va zaxira nusxalarining ahamiyati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0"/>
            <a:ext cx="10429875" cy="10287000"/>
            <a:chOff x="0" y="0"/>
            <a:chExt cx="274696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4696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46963">
                  <a:moveTo>
                    <a:pt x="0" y="0"/>
                  </a:moveTo>
                  <a:lnTo>
                    <a:pt x="2746963" y="0"/>
                  </a:lnTo>
                  <a:lnTo>
                    <a:pt x="274696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2C14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74696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31079" y="666750"/>
            <a:ext cx="9090171" cy="8953500"/>
            <a:chOff x="0" y="0"/>
            <a:chExt cx="1082836" cy="10665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2836" cy="1066556"/>
            </a:xfrm>
            <a:custGeom>
              <a:avLst/>
              <a:gdLst/>
              <a:ahLst/>
              <a:cxnLst/>
              <a:rect r="r" b="b" t="t" l="l"/>
              <a:pathLst>
                <a:path h="1066556" w="1082836">
                  <a:moveTo>
                    <a:pt x="0" y="0"/>
                  </a:moveTo>
                  <a:lnTo>
                    <a:pt x="1082836" y="0"/>
                  </a:lnTo>
                  <a:lnTo>
                    <a:pt x="1082836" y="1066556"/>
                  </a:lnTo>
                  <a:lnTo>
                    <a:pt x="0" y="1066556"/>
                  </a:lnTo>
                  <a:close/>
                </a:path>
              </a:pathLst>
            </a:custGeom>
            <a:blipFill>
              <a:blip r:embed="rId2"/>
              <a:stretch>
                <a:fillRect l="0" t="-65" r="0" b="-65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19150"/>
            <a:ext cx="6886575" cy="2194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</a:pPr>
            <a:r>
              <a:rPr lang="en-US" sz="8400">
                <a:solidFill>
                  <a:srgbClr val="F2C14E"/>
                </a:solidFill>
                <a:latin typeface="Lovelace Text"/>
                <a:ea typeface="Lovelace Text"/>
                <a:cs typeface="Lovelace Text"/>
                <a:sym typeface="Lovelace Text"/>
              </a:rPr>
              <a:t>Ijtimoiy Muhandislik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6750" y="5971803"/>
            <a:ext cx="5448300" cy="3648447"/>
            <a:chOff x="0" y="0"/>
            <a:chExt cx="7264400" cy="486459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2808678"/>
              <a:ext cx="7264400" cy="20559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Ijtimoiy muhandislik </a:t>
              </a:r>
              <a:r>
                <a:rPr lang="en-US" b="true" sz="2199">
                  <a:solidFill>
                    <a:srgbClr val="FFFFFF"/>
                  </a:solidFill>
                  <a:latin typeface="Inclusive Sans Bold"/>
                  <a:ea typeface="Inclusive Sans Bold"/>
                  <a:cs typeface="Inclusive Sans Bold"/>
                  <a:sym typeface="Inclusive Sans Bold"/>
                </a:rPr>
                <a:t>xavfli manipulyatsiya</a:t>
              </a: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 usullarini o'z ichiga oladi, himoyalanish usullari esa muhimdir.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7264400" cy="2447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Manipulyatsiya va himoyalanish usullari kiberxavfsizlikda muhim ahamiyatga ega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19150"/>
            <a:ext cx="9763125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>
                <a:solidFill>
                  <a:srgbClr val="F2C14E"/>
                </a:solidFill>
                <a:latin typeface="Lovelace Text"/>
                <a:ea typeface="Lovelace Text"/>
                <a:cs typeface="Lovelace Text"/>
                <a:sym typeface="Lovelace Text"/>
              </a:rPr>
              <a:t>Korporativ Kiberxavfsizlik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666750"/>
            <a:ext cx="6886575" cy="1894131"/>
            <a:chOff x="0" y="0"/>
            <a:chExt cx="9182100" cy="252550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90290"/>
              <a:ext cx="9182100" cy="15352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Xavfsizlik siyosatlari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Xodimlarni o'qitish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Hodisalarga javob berish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F2C14E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Siyosatlar va Tayyorgarlik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4248150"/>
            <a:ext cx="18288000" cy="6038850"/>
            <a:chOff x="0" y="0"/>
            <a:chExt cx="2178497" cy="7193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8497" cy="719358"/>
            </a:xfrm>
            <a:custGeom>
              <a:avLst/>
              <a:gdLst/>
              <a:ahLst/>
              <a:cxnLst/>
              <a:rect r="r" b="b" t="t" l="l"/>
              <a:pathLst>
                <a:path h="719358" w="2178497">
                  <a:moveTo>
                    <a:pt x="0" y="0"/>
                  </a:moveTo>
                  <a:lnTo>
                    <a:pt x="2178497" y="0"/>
                  </a:lnTo>
                  <a:lnTo>
                    <a:pt x="2178497" y="719358"/>
                  </a:lnTo>
                  <a:lnTo>
                    <a:pt x="0" y="719358"/>
                  </a:lnTo>
                  <a:close/>
                </a:path>
              </a:pathLst>
            </a:custGeom>
            <a:blipFill>
              <a:blip r:embed="rId2"/>
              <a:stretch>
                <a:fillRect l="0" t="-5268" r="0" b="-5268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1562141"/>
            <a:ext cx="6886575" cy="1753245"/>
            <a:chOff x="0" y="0"/>
            <a:chExt cx="9182100" cy="233765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839610"/>
              <a:ext cx="9182100" cy="1498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41"/>
                </a:lnSpc>
              </a:pPr>
              <a:r>
                <a:rPr lang="en-US" sz="2172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Ethical hackers identify vulnerabilities in systems, helping organizations strengthen security measures and prevent data breaches effectively.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0"/>
              <a:ext cx="9182100" cy="596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54"/>
                </a:lnSpc>
              </a:pPr>
              <a:r>
                <a:rPr lang="en-US" sz="2962" spc="-59" strike="noStrike" u="none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Ethical Hacker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655817" y="1561821"/>
            <a:ext cx="77405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600">
                <a:solidFill>
                  <a:srgbClr val="FFFFFF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01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734675" y="4248150"/>
            <a:ext cx="6886575" cy="2135595"/>
            <a:chOff x="0" y="0"/>
            <a:chExt cx="9182100" cy="284746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841410"/>
              <a:ext cx="9182100" cy="2006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41"/>
                </a:lnSpc>
              </a:pPr>
              <a:r>
                <a:rPr lang="en-US" sz="2172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Penetration testers simulate attacks to evaluate system security, providing valuable insights that guide improvements and protect sensitive information.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596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54"/>
                </a:lnSpc>
              </a:pPr>
              <a:r>
                <a:rPr lang="en-US" sz="2962" spc="-5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Penetration Tester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655817" y="4259238"/>
            <a:ext cx="77405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600">
                <a:solidFill>
                  <a:srgbClr val="FFFFFF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02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734675" y="6934200"/>
            <a:ext cx="6886575" cy="2135569"/>
            <a:chOff x="0" y="0"/>
            <a:chExt cx="9182100" cy="2847425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841375"/>
              <a:ext cx="9182100" cy="2006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41"/>
                </a:lnSpc>
              </a:pPr>
              <a:r>
                <a:rPr lang="en-US" sz="2172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Certifications like CEH, CISSP, and CompTIA Security validate expertise in cybersecurity, enhancing career prospects and demonstrating professional competence.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0"/>
              <a:ext cx="9182100" cy="596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54"/>
                </a:lnSpc>
              </a:pPr>
              <a:r>
                <a:rPr lang="en-US" sz="2962" spc="-5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Security Certifications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655817" y="6945288"/>
            <a:ext cx="77405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600">
                <a:solidFill>
                  <a:srgbClr val="FFFFFF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03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0" y="4248150"/>
            <a:ext cx="8991600" cy="6038850"/>
            <a:chOff x="0" y="0"/>
            <a:chExt cx="1335860" cy="89717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35860" cy="897177"/>
            </a:xfrm>
            <a:custGeom>
              <a:avLst/>
              <a:gdLst/>
              <a:ahLst/>
              <a:cxnLst/>
              <a:rect r="r" b="b" t="t" l="l"/>
              <a:pathLst>
                <a:path h="897177" w="1335860">
                  <a:moveTo>
                    <a:pt x="0" y="0"/>
                  </a:moveTo>
                  <a:lnTo>
                    <a:pt x="1335860" y="0"/>
                  </a:lnTo>
                  <a:lnTo>
                    <a:pt x="1335860" y="897177"/>
                  </a:lnTo>
                  <a:lnTo>
                    <a:pt x="0" y="897177"/>
                  </a:lnTo>
                  <a:close/>
                </a:path>
              </a:pathLst>
            </a:custGeom>
            <a:blipFill>
              <a:blip r:embed="rId2"/>
              <a:stretch>
                <a:fillRect l="-307" t="0" r="-307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66750" y="828675"/>
            <a:ext cx="8324850" cy="2205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75"/>
              </a:lnSpc>
            </a:pPr>
            <a:r>
              <a:rPr lang="en-US" sz="8475">
                <a:solidFill>
                  <a:srgbClr val="F2C14E"/>
                </a:solidFill>
                <a:latin typeface="Lovelace Text"/>
                <a:ea typeface="Lovelace Text"/>
                <a:cs typeface="Lovelace Text"/>
                <a:sym typeface="Lovelace Text"/>
              </a:rPr>
              <a:t>Kiberxavfsizlik Kasblari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1C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7451633"/>
            <a:ext cx="8324850" cy="2168617"/>
            <a:chOff x="0" y="0"/>
            <a:chExt cx="11099800" cy="28914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903570"/>
              <a:ext cx="11099800" cy="19879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 strike="noStrike" u="none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Kiberxavfsizlikda muvaffaqiyat uchun </a:t>
              </a:r>
              <a:r>
                <a:rPr lang="en-US" b="true" sz="2199" strike="noStrike" u="none">
                  <a:solidFill>
                    <a:srgbClr val="FFFFFF"/>
                  </a:solidFill>
                  <a:latin typeface="Inclusive Sans Bold"/>
                  <a:ea typeface="Inclusive Sans Bold"/>
                  <a:cs typeface="Inclusive Sans Bold"/>
                  <a:sym typeface="Inclusive Sans Bold"/>
                </a:rPr>
                <a:t>doimiy organish zarur</a:t>
              </a:r>
              <a:r>
                <a:rPr lang="en-US" sz="2199" strike="noStrike" u="none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. O'qish resurslari, amaliy mashg'ulotlar va sertifikatlar orqali o'z mahoratingizni oshirishingiz mumkin. Harakatlaringizni rejalashtiring va </a:t>
              </a:r>
              <a:r>
                <a:rPr lang="en-US" b="true" sz="2199" strike="noStrike" u="none">
                  <a:solidFill>
                    <a:srgbClr val="FFFFFF"/>
                  </a:solidFill>
                  <a:latin typeface="Inclusive Sans Bold"/>
                  <a:ea typeface="Inclusive Sans Bold"/>
                  <a:cs typeface="Inclusive Sans Bold"/>
                  <a:sym typeface="Inclusive Sans Bold"/>
                </a:rPr>
                <a:t>yangiliklardan xabardor bo'ling</a:t>
              </a:r>
              <a:r>
                <a:rPr lang="en-US" sz="2199" strike="noStrike" u="none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10998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 spc="-60" strike="noStrike" u="none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Keyingi Qadamlar va Resurslar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819150"/>
            <a:ext cx="1407795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>
                <a:solidFill>
                  <a:srgbClr val="F2C14E"/>
                </a:solidFill>
                <a:latin typeface="Lovelace Text"/>
                <a:ea typeface="Lovelace Text"/>
                <a:cs typeface="Lovelace Text"/>
                <a:sym typeface="Lovelace Text"/>
              </a:rPr>
              <a:t>Xulosa va Tavsiyalar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8953500"/>
            <a:chOff x="0" y="0"/>
            <a:chExt cx="1060273" cy="11403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0273" cy="1140339"/>
            </a:xfrm>
            <a:custGeom>
              <a:avLst/>
              <a:gdLst/>
              <a:ahLst/>
              <a:cxnLst/>
              <a:rect r="r" b="b" t="t" l="l"/>
              <a:pathLst>
                <a:path h="1140339" w="1060273">
                  <a:moveTo>
                    <a:pt x="0" y="0"/>
                  </a:moveTo>
                  <a:lnTo>
                    <a:pt x="1060273" y="0"/>
                  </a:lnTo>
                  <a:lnTo>
                    <a:pt x="1060273" y="1140339"/>
                  </a:lnTo>
                  <a:lnTo>
                    <a:pt x="0" y="1140339"/>
                  </a:lnTo>
                  <a:close/>
                </a:path>
              </a:pathLst>
            </a:custGeom>
            <a:blipFill>
              <a:blip r:embed="rId2"/>
              <a:stretch>
                <a:fillRect l="-280" t="0" r="-28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34675" y="6038809"/>
            <a:ext cx="6886575" cy="3581441"/>
            <a:chOff x="0" y="0"/>
            <a:chExt cx="9182100" cy="477525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91821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 strike="noStrike" u="none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Email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645702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 spc="-60" strike="noStrike" u="none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hello@reallygreatsite.com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707589"/>
              <a:ext cx="91821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 strike="noStrike" u="none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Social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400916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 spc="-60" strike="noStrike" u="none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@reallygreatsite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462802"/>
              <a:ext cx="91821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Phone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4156129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FFFFFF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123-456-7890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734675" y="819150"/>
            <a:ext cx="6886575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>
                <a:solidFill>
                  <a:srgbClr val="F2C14E"/>
                </a:solidFill>
                <a:latin typeface="Lovelace Text"/>
                <a:ea typeface="Lovelace Text"/>
                <a:cs typeface="Lovelace Text"/>
                <a:sym typeface="Lovelace Text"/>
              </a:rPr>
              <a:t>Get in Touch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Презентация - Kiberxavfsizlik Asoslari</dc:description>
  <dc:identifier>DAHJMFAWxsk</dc:identifier>
  <dcterms:modified xsi:type="dcterms:W3CDTF">2011-08-01T06:04:30Z</dcterms:modified>
  <cp:revision>1</cp:revision>
  <dc:title>Презентация - Kiberxavfsizlik Asoslari</dc:title>
</cp:coreProperties>
</file>